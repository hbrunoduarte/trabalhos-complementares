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82" r:id="rId2"/>
    <p:sldId id="273" r:id="rId3"/>
    <p:sldId id="293" r:id="rId4"/>
    <p:sldId id="270" r:id="rId5"/>
    <p:sldId id="294" r:id="rId6"/>
    <p:sldId id="288" r:id="rId7"/>
    <p:sldId id="295" r:id="rId8"/>
    <p:sldId id="257" r:id="rId9"/>
    <p:sldId id="296" r:id="rId10"/>
    <p:sldId id="279" r:id="rId11"/>
    <p:sldId id="297" r:id="rId12"/>
    <p:sldId id="298" r:id="rId13"/>
    <p:sldId id="290" r:id="rId14"/>
    <p:sldId id="291" r:id="rId15"/>
    <p:sldId id="299" r:id="rId16"/>
    <p:sldId id="272" r:id="rId1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E1A98552-CE60-4A52-8DD3-A3594B01FE4D}">
          <p14:sldIdLst>
            <p14:sldId id="282"/>
            <p14:sldId id="273"/>
            <p14:sldId id="293"/>
            <p14:sldId id="270"/>
            <p14:sldId id="294"/>
            <p14:sldId id="288"/>
            <p14:sldId id="295"/>
            <p14:sldId id="257"/>
            <p14:sldId id="296"/>
            <p14:sldId id="279"/>
            <p14:sldId id="297"/>
            <p14:sldId id="298"/>
            <p14:sldId id="290"/>
            <p14:sldId id="291"/>
            <p14:sldId id="299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pos="6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E28A"/>
    <a:srgbClr val="0F6134"/>
    <a:srgbClr val="054B28"/>
    <a:srgbClr val="148246"/>
    <a:srgbClr val="149B55"/>
    <a:srgbClr val="1ACC6F"/>
    <a:srgbClr val="199B55"/>
    <a:srgbClr val="158949"/>
    <a:srgbClr val="158C4C"/>
    <a:srgbClr val="C3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2" autoAdjust="0"/>
    <p:restoredTop sz="94660"/>
  </p:normalViewPr>
  <p:slideViewPr>
    <p:cSldViewPr>
      <p:cViewPr>
        <p:scale>
          <a:sx n="70" d="100"/>
          <a:sy n="70" d="100"/>
        </p:scale>
        <p:origin x="2141" y="226"/>
      </p:cViewPr>
      <p:guideLst>
        <p:guide orient="horz" pos="1117"/>
        <p:guide pos="6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28CC1-B90E-47D8-99C5-6BAA1811C342}" type="datetimeFigureOut">
              <a:rPr lang="pt-BR" smtClean="0"/>
              <a:t>05/06/2026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9D351C-CD6A-4EE7-B691-C83BC0E42DF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6443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D351C-CD6A-4EE7-B691-C83BC0E42DF7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1432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AAEAB-FF40-3171-2BF7-92959DAB7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89DE0DC-BE5C-8908-B75B-53AFA42F8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8E89C48-5B2F-9674-3215-E3FA529D8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18D121-8A90-CAC4-9EA5-2315CC194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D351C-CD6A-4EE7-B691-C83BC0E42DF7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1800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D351C-CD6A-4EE7-B691-C83BC0E42DF7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119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408DE-4D72-3285-BABA-56B2C62B4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6C9DAB4-5CCE-A8E8-F974-ED53217D0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6DAEB0-0464-2AC3-0A42-39B3EE629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FE30473-30AC-4B73-2B8D-288AB71C6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D351C-CD6A-4EE7-B691-C83BC0E42DF7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7620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E21E1-DD00-2F10-B4A1-7906F420E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BEABA16-C11A-5670-A1A9-C93E0082F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7CA8D6B-8284-B25C-78BA-7AB88437B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D622A7-2236-B690-8A2D-F4F9AD554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D351C-CD6A-4EE7-B691-C83BC0E42DF7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0387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D351C-CD6A-4EE7-B691-C83BC0E42DF7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7044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0F497-9B49-A5F8-9C93-57A98C2E2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46D9DE-BECD-9FF8-8735-E06803E48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F04C640-EC9A-6245-6708-F73052ABB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A5E850-A972-5840-AEC0-07B5F5421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D351C-CD6A-4EE7-B691-C83BC0E42DF7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9385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4B977-AD5C-4F3D-992F-860711DBDA8C}" type="datetimeFigureOut">
              <a:rPr lang="pt-BR" smtClean="0"/>
              <a:t>05/06/2026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0E47-E0C0-45CC-B12C-3507664E132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1286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4B977-AD5C-4F3D-992F-860711DBDA8C}" type="datetimeFigureOut">
              <a:rPr lang="pt-BR" smtClean="0"/>
              <a:t>05/06/2026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0E47-E0C0-45CC-B12C-3507664E132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0737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4B977-AD5C-4F3D-992F-860711DBDA8C}" type="datetimeFigureOut">
              <a:rPr lang="pt-BR" smtClean="0"/>
              <a:t>05/06/2026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0E47-E0C0-45CC-B12C-3507664E132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0047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4B977-AD5C-4F3D-992F-860711DBDA8C}" type="datetimeFigureOut">
              <a:rPr lang="pt-BR" smtClean="0"/>
              <a:t>05/06/2026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0E47-E0C0-45CC-B12C-3507664E132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7032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4B977-AD5C-4F3D-992F-860711DBDA8C}" type="datetimeFigureOut">
              <a:rPr lang="pt-BR" smtClean="0"/>
              <a:t>05/06/2026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0E47-E0C0-45CC-B12C-3507664E132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6557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4B977-AD5C-4F3D-992F-860711DBDA8C}" type="datetimeFigureOut">
              <a:rPr lang="pt-BR" smtClean="0"/>
              <a:t>05/06/2026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0E47-E0C0-45CC-B12C-3507664E132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74241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4B977-AD5C-4F3D-992F-860711DBDA8C}" type="datetimeFigureOut">
              <a:rPr lang="pt-BR" smtClean="0"/>
              <a:t>05/06/2026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0E47-E0C0-45CC-B12C-3507664E132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159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4B977-AD5C-4F3D-992F-860711DBDA8C}" type="datetimeFigureOut">
              <a:rPr lang="pt-BR" smtClean="0"/>
              <a:t>05/06/2026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0E47-E0C0-45CC-B12C-3507664E132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1114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4B977-AD5C-4F3D-992F-860711DBDA8C}" type="datetimeFigureOut">
              <a:rPr lang="pt-BR" smtClean="0"/>
              <a:t>05/06/2026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0E47-E0C0-45CC-B12C-3507664E132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4448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4B977-AD5C-4F3D-992F-860711DBDA8C}" type="datetimeFigureOut">
              <a:rPr lang="pt-BR" smtClean="0"/>
              <a:t>05/06/2026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0E47-E0C0-45CC-B12C-3507664E132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66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4B977-AD5C-4F3D-992F-860711DBDA8C}" type="datetimeFigureOut">
              <a:rPr lang="pt-BR" smtClean="0"/>
              <a:t>05/06/2026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A0E47-E0C0-45CC-B12C-3507664E132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4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4B977-AD5C-4F3D-992F-860711DBDA8C}" type="datetimeFigureOut">
              <a:rPr lang="pt-BR" smtClean="0"/>
              <a:t>05/06/2026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A0E47-E0C0-45CC-B12C-3507664E132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0902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23"/>
          <p:cNvSpPr txBox="1"/>
          <p:nvPr/>
        </p:nvSpPr>
        <p:spPr>
          <a:xfrm>
            <a:off x="4211650" y="1730947"/>
            <a:ext cx="460105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/>
              <a:t>TCC: </a:t>
            </a:r>
            <a:r>
              <a:rPr lang="en-US" sz="3200" b="1" dirty="0" err="1"/>
              <a:t>Geração</a:t>
            </a:r>
            <a:r>
              <a:rPr lang="en-US" sz="3200" b="1" dirty="0"/>
              <a:t> </a:t>
            </a:r>
            <a:r>
              <a:rPr lang="en-US" sz="3200" b="1" dirty="0" err="1"/>
              <a:t>Automática</a:t>
            </a:r>
            <a:r>
              <a:rPr lang="en-US" sz="3200" b="1" dirty="0"/>
              <a:t> de Código LaTeX a </a:t>
            </a:r>
            <a:r>
              <a:rPr lang="en-US" sz="3200" b="1" dirty="0" err="1"/>
              <a:t>Partir</a:t>
            </a:r>
            <a:r>
              <a:rPr lang="en-US" sz="3200" b="1" dirty="0"/>
              <a:t> de </a:t>
            </a:r>
            <a:r>
              <a:rPr lang="en-US" sz="3200" b="1" dirty="0" err="1"/>
              <a:t>Expressões</a:t>
            </a:r>
            <a:r>
              <a:rPr lang="en-US" sz="3200" b="1" dirty="0"/>
              <a:t> </a:t>
            </a:r>
            <a:r>
              <a:rPr lang="en-US" sz="3200" b="1" dirty="0" err="1"/>
              <a:t>Matemáticas</a:t>
            </a:r>
            <a:r>
              <a:rPr lang="en-US" sz="3200" b="1" dirty="0"/>
              <a:t> </a:t>
            </a:r>
            <a:r>
              <a:rPr lang="en-US" sz="3200" b="1" dirty="0" err="1"/>
              <a:t>Manuscritas</a:t>
            </a:r>
            <a:endParaRPr lang="pt-BR" sz="3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006" y="5708679"/>
            <a:ext cx="2195698" cy="74886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3635897" y="3750644"/>
            <a:ext cx="5176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Autor: Emanuel Henrique Farias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4400414" y="4480723"/>
            <a:ext cx="444909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Bruno Henrique Duarte</a:t>
            </a:r>
          </a:p>
          <a:p>
            <a:pPr algn="r"/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João Víctor Paiva Nunes Pereira</a:t>
            </a:r>
          </a:p>
          <a:p>
            <a:pPr algn="r"/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Departamento de Ciência da Computação</a:t>
            </a:r>
          </a:p>
          <a:p>
            <a:pPr algn="r"/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Professor André Tavares da Silva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53"/>
          <a:stretch/>
        </p:blipFill>
        <p:spPr>
          <a:xfrm flipV="1">
            <a:off x="-396552" y="815770"/>
            <a:ext cx="4032448" cy="6069614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210"/>
          <a:stretch/>
        </p:blipFill>
        <p:spPr>
          <a:xfrm flipH="1">
            <a:off x="3779912" y="0"/>
            <a:ext cx="5904657" cy="90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414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ixaDeTexto 18"/>
          <p:cNvSpPr txBox="1"/>
          <p:nvPr/>
        </p:nvSpPr>
        <p:spPr>
          <a:xfrm>
            <a:off x="971600" y="1745718"/>
            <a:ext cx="6120680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“Escrever expressões matemáticas complexas em um computador usando editores de textos é uma tarefa trabalhosa”.</a:t>
            </a:r>
          </a:p>
          <a:p>
            <a:pPr>
              <a:lnSpc>
                <a:spcPct val="150000"/>
              </a:lnSpc>
            </a:pPr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matemática permeia todas as ciências e possui um vasto conjunto de símbolos (aproximadamente 2 mil) utilizados para expressar os mais diferentes conceitos. Tais símbolos não estão presentes em teclados e, na maioria dos editores, são escritos através de comandos.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93549" y="333523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Problema</a:t>
            </a:r>
          </a:p>
        </p:txBody>
      </p:sp>
      <p:sp>
        <p:nvSpPr>
          <p:cNvPr id="20" name="Retângulo 19"/>
          <p:cNvSpPr/>
          <p:nvPr/>
        </p:nvSpPr>
        <p:spPr>
          <a:xfrm flipV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15" y="6381328"/>
            <a:ext cx="1672379" cy="29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502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9405-434F-3884-74B4-F697B49DE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ixaDeTexto 18">
            <a:extLst>
              <a:ext uri="{FF2B5EF4-FFF2-40B4-BE49-F238E27FC236}">
                <a16:creationId xmlns:a16="http://schemas.microsoft.com/office/drawing/2014/main" id="{7D787217-97EC-F542-FE0E-F13CEB7E6920}"/>
              </a:ext>
            </a:extLst>
          </p:cNvPr>
          <p:cNvSpPr txBox="1"/>
          <p:nvPr/>
        </p:nvSpPr>
        <p:spPr>
          <a:xfrm>
            <a:off x="971600" y="1561052"/>
            <a:ext cx="6048672" cy="3735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“Desenvolver um reconhecedor automatizado de expressões matemáticas, além de facilitar a entrada de expressões em um editor de textos, teria outras utilidades como a conversão de livros e artigo científicos para o formato digital, ajudar na entrada de dados em softwares especializados em manipulação algébrica, facilitar a criação de documentos </a:t>
            </a:r>
            <a:r>
              <a:rPr lang="pt-BR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LaTeX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sem precisar conhecer os comandos, e até mesmo auxiliar portadores de deficiência visual pela leitura de documentos e papeis com expressões matemáticas”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82953EA-EB60-C482-9C69-E4A38B410043}"/>
              </a:ext>
            </a:extLst>
          </p:cNvPr>
          <p:cNvSpPr txBox="1"/>
          <p:nvPr/>
        </p:nvSpPr>
        <p:spPr>
          <a:xfrm>
            <a:off x="393549" y="333523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Problema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0153BA4-3B64-247F-4EED-4A0AE78E1DBF}"/>
              </a:ext>
            </a:extLst>
          </p:cNvPr>
          <p:cNvSpPr/>
          <p:nvPr/>
        </p:nvSpPr>
        <p:spPr>
          <a:xfrm flipV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53F96C7-4FBA-3BB3-5614-A47ABECEA8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15" y="6381328"/>
            <a:ext cx="1672379" cy="29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611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ixaDeTexto 18"/>
          <p:cNvSpPr txBox="1"/>
          <p:nvPr/>
        </p:nvSpPr>
        <p:spPr>
          <a:xfrm>
            <a:off x="971600" y="2115050"/>
            <a:ext cx="5976664" cy="2627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“O objetivo deste trabalho é desenvolver uma aplicação web em que o usuário possa fazer upload de uma imagem (que contém uma expressão matemática manuscrita) e o sistema deverá interpretar essa imagem e devolver para o usuário o código </a:t>
            </a:r>
            <a:r>
              <a:rPr lang="pt-BR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LaTeX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da expressão, e ainda, o navegador deverá renderizá-la para que a pessoa possa visualizar”.</a:t>
            </a:r>
            <a:endParaRPr lang="pt-BR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15" y="6381328"/>
            <a:ext cx="1672379" cy="29176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28F6930-46D8-56A6-397C-EBE339E348AD}"/>
              </a:ext>
            </a:extLst>
          </p:cNvPr>
          <p:cNvSpPr txBox="1"/>
          <p:nvPr/>
        </p:nvSpPr>
        <p:spPr>
          <a:xfrm>
            <a:off x="393549" y="333523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4886CB7-5EFD-F691-AF15-11258943E765}"/>
              </a:ext>
            </a:extLst>
          </p:cNvPr>
          <p:cNvSpPr/>
          <p:nvPr/>
        </p:nvSpPr>
        <p:spPr>
          <a:xfrm flipV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5219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C590C-5E10-D996-899C-4E35BD8C1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308FA15-C885-B486-D70C-5BA7C2CF6F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15" y="6381328"/>
            <a:ext cx="1672379" cy="29176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601570D-00AD-2CF1-D494-39C35D516580}"/>
              </a:ext>
            </a:extLst>
          </p:cNvPr>
          <p:cNvSpPr txBox="1"/>
          <p:nvPr/>
        </p:nvSpPr>
        <p:spPr>
          <a:xfrm>
            <a:off x="393549" y="333523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Etapas da Aplicação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E5313AD-898C-6BF4-3CE6-D0C253BB309E}"/>
              </a:ext>
            </a:extLst>
          </p:cNvPr>
          <p:cNvSpPr/>
          <p:nvPr/>
        </p:nvSpPr>
        <p:spPr>
          <a:xfrm flipV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847B1598-98AD-16B1-DEFF-CA80B9CF7417}"/>
              </a:ext>
            </a:extLst>
          </p:cNvPr>
          <p:cNvGrpSpPr/>
          <p:nvPr/>
        </p:nvGrpSpPr>
        <p:grpSpPr>
          <a:xfrm>
            <a:off x="845330" y="1791695"/>
            <a:ext cx="7453339" cy="3274609"/>
            <a:chOff x="287013" y="1415535"/>
            <a:chExt cx="8340620" cy="3664434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93DFDEE6-C705-4453-7C1C-2C1659FFFCED}"/>
                </a:ext>
              </a:extLst>
            </p:cNvPr>
            <p:cNvSpPr/>
            <p:nvPr/>
          </p:nvSpPr>
          <p:spPr>
            <a:xfrm>
              <a:off x="287014" y="1484784"/>
              <a:ext cx="2016223" cy="64633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i="1" dirty="0" err="1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Frontend</a:t>
              </a:r>
              <a:endParaRPr lang="en-US" sz="1400" b="1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13FE3CEE-0E9B-7008-1881-C7B421167F81}"/>
                </a:ext>
              </a:extLst>
            </p:cNvPr>
            <p:cNvSpPr/>
            <p:nvPr/>
          </p:nvSpPr>
          <p:spPr>
            <a:xfrm>
              <a:off x="3563888" y="1484784"/>
              <a:ext cx="2016224" cy="64633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Pré-processamento</a:t>
              </a:r>
              <a:endParaRPr lang="en-US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id="{F1CCA2A0-4959-9208-9307-FEB1D9A72FC6}"/>
                </a:ext>
              </a:extLst>
            </p:cNvPr>
            <p:cNvCxnSpPr>
              <a:cxnSpLocks/>
              <a:stCxn id="5" idx="3"/>
              <a:endCxn id="8" idx="1"/>
            </p:cNvCxnSpPr>
            <p:nvPr/>
          </p:nvCxnSpPr>
          <p:spPr>
            <a:xfrm>
              <a:off x="2303237" y="1807950"/>
              <a:ext cx="126065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0B7F22EB-4245-9292-7F91-DE3D87F1C92F}"/>
                </a:ext>
              </a:extLst>
            </p:cNvPr>
            <p:cNvSpPr txBox="1"/>
            <p:nvPr/>
          </p:nvSpPr>
          <p:spPr>
            <a:xfrm>
              <a:off x="2357924" y="1415535"/>
              <a:ext cx="1169938" cy="3788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>
                  <a:latin typeface="Verdana" panose="020B0604030504040204" pitchFamily="34" charset="0"/>
                  <a:ea typeface="Verdana" panose="020B0604030504040204" pitchFamily="34" charset="0"/>
                </a:rPr>
                <a:t>Imagem</a:t>
              </a:r>
              <a:endParaRPr lang="en-US" sz="16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0707245C-8C92-AB3F-C41D-E581A995E0FC}"/>
                </a:ext>
              </a:extLst>
            </p:cNvPr>
            <p:cNvSpPr/>
            <p:nvPr/>
          </p:nvSpPr>
          <p:spPr>
            <a:xfrm>
              <a:off x="6611409" y="1484784"/>
              <a:ext cx="2016224" cy="64633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Segmentação</a:t>
              </a:r>
              <a:endParaRPr lang="en-US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149B83F3-BF75-2EA1-C4B8-501AE0E9951C}"/>
                </a:ext>
              </a:extLst>
            </p:cNvPr>
            <p:cNvCxnSpPr>
              <a:cxnSpLocks/>
              <a:stCxn id="8" idx="3"/>
              <a:endCxn id="15" idx="1"/>
            </p:cNvCxnSpPr>
            <p:nvPr/>
          </p:nvCxnSpPr>
          <p:spPr>
            <a:xfrm>
              <a:off x="5580112" y="1807950"/>
              <a:ext cx="103129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22625188-7A70-BD7B-C430-86E1541D5E68}"/>
                </a:ext>
              </a:extLst>
            </p:cNvPr>
            <p:cNvSpPr/>
            <p:nvPr/>
          </p:nvSpPr>
          <p:spPr>
            <a:xfrm>
              <a:off x="287015" y="2959211"/>
              <a:ext cx="2016224" cy="64633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Pós-segmentação</a:t>
              </a:r>
              <a:endParaRPr lang="en-US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26" name="Conector: Angulado 25">
              <a:extLst>
                <a:ext uri="{FF2B5EF4-FFF2-40B4-BE49-F238E27FC236}">
                  <a16:creationId xmlns:a16="http://schemas.microsoft.com/office/drawing/2014/main" id="{3C8657D9-FA4B-ED94-407E-8FB638304822}"/>
                </a:ext>
              </a:extLst>
            </p:cNvPr>
            <p:cNvCxnSpPr>
              <a:cxnSpLocks/>
              <a:stCxn id="15" idx="2"/>
              <a:endCxn id="20" idx="0"/>
            </p:cNvCxnSpPr>
            <p:nvPr/>
          </p:nvCxnSpPr>
          <p:spPr>
            <a:xfrm rot="5400000">
              <a:off x="4043276" y="-617034"/>
              <a:ext cx="828096" cy="6324394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587E8B52-6998-4781-2CA7-E2D899215514}"/>
                </a:ext>
              </a:extLst>
            </p:cNvPr>
            <p:cNvSpPr/>
            <p:nvPr/>
          </p:nvSpPr>
          <p:spPr>
            <a:xfrm>
              <a:off x="3563888" y="2959211"/>
              <a:ext cx="2016224" cy="64633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Classificação</a:t>
              </a:r>
              <a:endParaRPr lang="en-US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31" name="Conector de Seta Reta 30">
              <a:extLst>
                <a:ext uri="{FF2B5EF4-FFF2-40B4-BE49-F238E27FC236}">
                  <a16:creationId xmlns:a16="http://schemas.microsoft.com/office/drawing/2014/main" id="{BF7FB7F8-C8E9-7B70-1F21-988BA83878FB}"/>
                </a:ext>
              </a:extLst>
            </p:cNvPr>
            <p:cNvCxnSpPr>
              <a:cxnSpLocks/>
              <a:stCxn id="20" idx="3"/>
              <a:endCxn id="30" idx="1"/>
            </p:cNvCxnSpPr>
            <p:nvPr/>
          </p:nvCxnSpPr>
          <p:spPr>
            <a:xfrm>
              <a:off x="2303239" y="3282377"/>
              <a:ext cx="126064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20FDDC11-ED68-7E9C-8FAE-2EE2D187C158}"/>
                </a:ext>
              </a:extLst>
            </p:cNvPr>
            <p:cNvSpPr/>
            <p:nvPr/>
          </p:nvSpPr>
          <p:spPr>
            <a:xfrm>
              <a:off x="6611409" y="2959209"/>
              <a:ext cx="2016224" cy="64633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Análise Estrutural</a:t>
              </a:r>
              <a:endParaRPr lang="en-US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34" name="Conector de Seta Reta 33">
              <a:extLst>
                <a:ext uri="{FF2B5EF4-FFF2-40B4-BE49-F238E27FC236}">
                  <a16:creationId xmlns:a16="http://schemas.microsoft.com/office/drawing/2014/main" id="{3BF6A242-77BC-9F32-C92E-950CC683E036}"/>
                </a:ext>
              </a:extLst>
            </p:cNvPr>
            <p:cNvCxnSpPr>
              <a:cxnSpLocks/>
              <a:stCxn id="30" idx="3"/>
              <a:endCxn id="33" idx="1"/>
            </p:cNvCxnSpPr>
            <p:nvPr/>
          </p:nvCxnSpPr>
          <p:spPr>
            <a:xfrm flipV="1">
              <a:off x="5580112" y="3282375"/>
              <a:ext cx="1031297" cy="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A9416922-B5D6-AA69-0EFE-6113FF301551}"/>
                </a:ext>
              </a:extLst>
            </p:cNvPr>
            <p:cNvSpPr/>
            <p:nvPr/>
          </p:nvSpPr>
          <p:spPr>
            <a:xfrm>
              <a:off x="287013" y="4433638"/>
              <a:ext cx="2016224" cy="64633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Conversão </a:t>
              </a:r>
              <a:r>
                <a:rPr lang="pt-BR" sz="1400" b="1" dirty="0" err="1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LaTeX</a:t>
              </a:r>
              <a:endParaRPr lang="en-US" sz="1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37" name="Conector: Angulado 36">
              <a:extLst>
                <a:ext uri="{FF2B5EF4-FFF2-40B4-BE49-F238E27FC236}">
                  <a16:creationId xmlns:a16="http://schemas.microsoft.com/office/drawing/2014/main" id="{DA52EE22-DD56-57B5-C5C8-9E6B37F3820E}"/>
                </a:ext>
              </a:extLst>
            </p:cNvPr>
            <p:cNvCxnSpPr>
              <a:cxnSpLocks/>
              <a:stCxn id="33" idx="2"/>
              <a:endCxn id="36" idx="0"/>
            </p:cNvCxnSpPr>
            <p:nvPr/>
          </p:nvCxnSpPr>
          <p:spPr>
            <a:xfrm rot="5400000">
              <a:off x="4043274" y="857391"/>
              <a:ext cx="828098" cy="632439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id="{7F2867ED-5A28-16D7-7AE6-F727153CB99D}"/>
                </a:ext>
              </a:extLst>
            </p:cNvPr>
            <p:cNvSpPr/>
            <p:nvPr/>
          </p:nvSpPr>
          <p:spPr>
            <a:xfrm>
              <a:off x="3563888" y="4433634"/>
              <a:ext cx="2016224" cy="64633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i="1" dirty="0" err="1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Frontend</a:t>
              </a:r>
              <a:endParaRPr lang="en-US" sz="1400" b="1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43" name="Conector de Seta Reta 42">
              <a:extLst>
                <a:ext uri="{FF2B5EF4-FFF2-40B4-BE49-F238E27FC236}">
                  <a16:creationId xmlns:a16="http://schemas.microsoft.com/office/drawing/2014/main" id="{843205E7-7D28-3600-591F-A3976304D582}"/>
                </a:ext>
              </a:extLst>
            </p:cNvPr>
            <p:cNvCxnSpPr>
              <a:cxnSpLocks/>
              <a:stCxn id="36" idx="3"/>
              <a:endCxn id="42" idx="1"/>
            </p:cNvCxnSpPr>
            <p:nvPr/>
          </p:nvCxnSpPr>
          <p:spPr>
            <a:xfrm flipV="1">
              <a:off x="2303237" y="4756800"/>
              <a:ext cx="1260651" cy="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69F9F4D-DEDB-ABC9-0C61-05CE8D884CD3}"/>
              </a:ext>
            </a:extLst>
          </p:cNvPr>
          <p:cNvSpPr txBox="1"/>
          <p:nvPr/>
        </p:nvSpPr>
        <p:spPr>
          <a:xfrm>
            <a:off x="393549" y="5416038"/>
            <a:ext cx="19101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Adaptado do trabalho.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480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F6277-62BB-7E3B-CC76-4FE0BA4C9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90BB386-FF3F-D406-6619-603DD75F75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15" y="6381328"/>
            <a:ext cx="1672379" cy="291764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50D4E875-3DD3-93C0-70EE-AEBCAEDF020E}"/>
              </a:ext>
            </a:extLst>
          </p:cNvPr>
          <p:cNvSpPr txBox="1"/>
          <p:nvPr/>
        </p:nvSpPr>
        <p:spPr>
          <a:xfrm>
            <a:off x="393548" y="333523"/>
            <a:ext cx="7274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Técnicas utilizadas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DA0CDF0-D61A-121C-236F-8CD1911E99DD}"/>
              </a:ext>
            </a:extLst>
          </p:cNvPr>
          <p:cNvSpPr/>
          <p:nvPr/>
        </p:nvSpPr>
        <p:spPr>
          <a:xfrm flipV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676E81A-6D1B-9066-AEC1-A0E015FF8AFE}"/>
              </a:ext>
            </a:extLst>
          </p:cNvPr>
          <p:cNvSpPr txBox="1"/>
          <p:nvPr/>
        </p:nvSpPr>
        <p:spPr>
          <a:xfrm>
            <a:off x="755576" y="1659285"/>
            <a:ext cx="694976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Pré-processamento e Processamento de Imagens: 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Conversão para tons de cinza, filtro de mediana, </a:t>
            </a:r>
            <a:r>
              <a:rPr lang="pt-BR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limiarização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adaptativa (</a:t>
            </a:r>
            <a:r>
              <a:rPr lang="pt-BR" sz="16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Adaptive</a:t>
            </a:r>
            <a:r>
              <a:rPr lang="pt-BR" sz="16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16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Mean</a:t>
            </a:r>
            <a:r>
              <a:rPr lang="pt-BR" sz="16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16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Thresholding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), segmentação por componentes conexos (</a:t>
            </a:r>
            <a:r>
              <a:rPr lang="pt-BR" sz="16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findContours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), operações morfológicas de dilatação e redimensionamento de imagem;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Classificação: 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Redes Neurais Convolucionais (CNN), funções de ativação </a:t>
            </a:r>
            <a:r>
              <a:rPr lang="pt-BR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ReLU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pt-BR" sz="16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softmax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função de erro </a:t>
            </a:r>
            <a:r>
              <a:rPr lang="pt-BR" sz="16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cross-entropy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(log </a:t>
            </a:r>
            <a:r>
              <a:rPr lang="pt-BR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loss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), algoritmo otimizador ADAM, </a:t>
            </a:r>
            <a:r>
              <a:rPr lang="pt-BR" sz="16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Stochastic</a:t>
            </a:r>
            <a:r>
              <a:rPr lang="pt-BR" sz="16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16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Gradient</a:t>
            </a:r>
            <a:r>
              <a:rPr lang="pt-BR" sz="16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16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Descent</a:t>
            </a:r>
            <a:r>
              <a:rPr lang="pt-BR" sz="16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(SGD), </a:t>
            </a:r>
            <a:r>
              <a:rPr lang="pt-BR" sz="16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dropout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pt-BR" sz="16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backpropagation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pt-BR" sz="16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cross-validation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Análise Estrutural: 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Grafos, Árvore Geradora Mínima, Árvore de Baselines (BST - Baseline </a:t>
            </a:r>
            <a:r>
              <a:rPr lang="pt-BR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Structure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Tree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e técnica de detecção de colisão de círculos para cálculo de pesos.</a:t>
            </a:r>
          </a:p>
        </p:txBody>
      </p:sp>
    </p:spTree>
    <p:extLst>
      <p:ext uri="{BB962C8B-B14F-4D97-AF65-F5344CB8AC3E}">
        <p14:creationId xmlns:p14="http://schemas.microsoft.com/office/powerpoint/2010/main" val="578589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05469-2E56-420F-6694-C2C2E39E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2EEA645F-C869-43E2-6394-88EBBE10DD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15" y="6381328"/>
            <a:ext cx="1672379" cy="291764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52DBE394-5F53-9B9A-CE2E-BF28280BF342}"/>
              </a:ext>
            </a:extLst>
          </p:cNvPr>
          <p:cNvSpPr txBox="1"/>
          <p:nvPr/>
        </p:nvSpPr>
        <p:spPr>
          <a:xfrm>
            <a:off x="393548" y="333523"/>
            <a:ext cx="7274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Recursos utilizados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1253F55-4059-CD70-B923-B1DFBB931EAF}"/>
              </a:ext>
            </a:extLst>
          </p:cNvPr>
          <p:cNvSpPr/>
          <p:nvPr/>
        </p:nvSpPr>
        <p:spPr>
          <a:xfrm flipV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901462F-C76C-C94E-816F-93B95EBBC542}"/>
              </a:ext>
            </a:extLst>
          </p:cNvPr>
          <p:cNvSpPr txBox="1"/>
          <p:nvPr/>
        </p:nvSpPr>
        <p:spPr>
          <a:xfrm>
            <a:off x="751120" y="1254528"/>
            <a:ext cx="694976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Aplicação WEB: </a:t>
            </a:r>
            <a:r>
              <a:rPr lang="pt-BR" sz="15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framework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Sinatra da linguagem Ruby;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5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Seleção da Imagem: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biblioteca </a:t>
            </a:r>
            <a:r>
              <a:rPr lang="pt-BR" sz="15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Cropper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da linguagem </a:t>
            </a:r>
            <a:r>
              <a:rPr lang="pt-BR" sz="15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JavaScript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15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5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Renderização da Expressão </a:t>
            </a:r>
            <a:r>
              <a:rPr lang="pt-BR" sz="15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LaTeX</a:t>
            </a:r>
            <a:r>
              <a:rPr lang="pt-BR" sz="15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biblioteca </a:t>
            </a:r>
            <a:r>
              <a:rPr lang="pt-BR" sz="15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MathJax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da linguagem </a:t>
            </a:r>
            <a:r>
              <a:rPr lang="pt-BR" sz="15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JavaScript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t-BR" sz="15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Sistema Reconhecedor: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5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Pré-processamento, Segmentação e Pós-segmentação: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biblioteca </a:t>
            </a:r>
            <a:r>
              <a:rPr lang="pt-BR" sz="15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OpenCV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da linguagem C++;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1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5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Treinamento e Classificação: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bibliotecas </a:t>
            </a:r>
            <a:r>
              <a:rPr lang="pt-BR" sz="15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Keras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pt-BR" sz="15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TensorFlow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da linguagem Python e os </a:t>
            </a:r>
            <a:r>
              <a:rPr lang="pt-BR" sz="15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datasets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HWRT, Chars74K, MNIST e um criado pelo próprio autor;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1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5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Análise Estrutural:</a:t>
            </a:r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linguagem Ruby;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5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Intel Core i7 4790K no treinamento da CNN.</a:t>
            </a:r>
          </a:p>
        </p:txBody>
      </p:sp>
    </p:spTree>
    <p:extLst>
      <p:ext uri="{BB962C8B-B14F-4D97-AF65-F5344CB8AC3E}">
        <p14:creationId xmlns:p14="http://schemas.microsoft.com/office/powerpoint/2010/main" val="2069566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15" y="6381328"/>
            <a:ext cx="1672379" cy="291764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393549" y="333523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que foi feito?</a:t>
            </a:r>
          </a:p>
        </p:txBody>
      </p:sp>
      <p:sp>
        <p:nvSpPr>
          <p:cNvPr id="11" name="Retângulo 10"/>
          <p:cNvSpPr/>
          <p:nvPr/>
        </p:nvSpPr>
        <p:spPr>
          <a:xfrm flipV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F0EB328-2D8E-76D1-9C9E-5718EA474218}"/>
              </a:ext>
            </a:extLst>
          </p:cNvPr>
          <p:cNvSpPr txBox="1"/>
          <p:nvPr/>
        </p:nvSpPr>
        <p:spPr>
          <a:xfrm>
            <a:off x="827584" y="1561052"/>
            <a:ext cx="6984776" cy="3735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autor implementou todas as etapas necessárias para um reconhecedor </a:t>
            </a:r>
            <a:r>
              <a:rPr lang="pt-BR" sz="16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offline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expressões matemáticas. Ele desenvolveu uma aplicação web com uma ferramenta de seleção de imagens e um sistema de reconhecimento para a montagem da árvore da expressão e a conversão final para uma </a:t>
            </a:r>
            <a:r>
              <a:rPr lang="pt-BR" sz="16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string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código </a:t>
            </a:r>
            <a:r>
              <a:rPr lang="pt-BR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LaTeX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Vale destacar que a etapa de classificação exigiu um treinamento da CNN utilizada. Foram utilizados os quatro </a:t>
            </a:r>
            <a:r>
              <a:rPr lang="pt-BR" sz="16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datasets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citados para o treinamento (66271 símbolos foram usado – 60% para treinamento, 20% para validação e 20% para testes).</a:t>
            </a:r>
          </a:p>
        </p:txBody>
      </p:sp>
    </p:spTree>
    <p:extLst>
      <p:ext uri="{BB962C8B-B14F-4D97-AF65-F5344CB8AC3E}">
        <p14:creationId xmlns:p14="http://schemas.microsoft.com/office/powerpoint/2010/main" val="149408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FEC51-87EF-BF98-72A4-CDC82EA1D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5DB5ECE-0346-0128-F302-3B371F0785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15" y="6381328"/>
            <a:ext cx="1672379" cy="291764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DE08061-B85E-89F1-73D2-6E17D5F39799}"/>
              </a:ext>
            </a:extLst>
          </p:cNvPr>
          <p:cNvSpPr txBox="1"/>
          <p:nvPr/>
        </p:nvSpPr>
        <p:spPr>
          <a:xfrm>
            <a:off x="393549" y="333523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Resultados Obtidos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5C158A9-2DF2-C755-758D-53867C862580}"/>
              </a:ext>
            </a:extLst>
          </p:cNvPr>
          <p:cNvSpPr/>
          <p:nvPr/>
        </p:nvSpPr>
        <p:spPr>
          <a:xfrm flipV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80DE00A-EE4D-2788-6E79-014A5EF49EE1}"/>
              </a:ext>
            </a:extLst>
          </p:cNvPr>
          <p:cNvSpPr txBox="1"/>
          <p:nvPr/>
        </p:nvSpPr>
        <p:spPr>
          <a:xfrm>
            <a:off x="5220072" y="1930381"/>
            <a:ext cx="3168352" cy="2997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“O classificador obteve uma taxa média de erro de 1.407% em três execuções de treinamento, e o desvio-padrão foi de ±0.061. Cada execução do treinamento demorou aproximadamente 27 minutos [...]”.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3093A1-F9F1-7AB2-078A-B509E10EB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1722673"/>
            <a:ext cx="4320480" cy="341264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54B297E-2537-9DE0-8EE0-AC4727D3987A}"/>
              </a:ext>
            </a:extLst>
          </p:cNvPr>
          <p:cNvSpPr txBox="1"/>
          <p:nvPr/>
        </p:nvSpPr>
        <p:spPr>
          <a:xfrm>
            <a:off x="611560" y="5085184"/>
            <a:ext cx="3168352" cy="33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Retirado do trabalho.</a:t>
            </a:r>
          </a:p>
        </p:txBody>
      </p:sp>
    </p:spTree>
    <p:extLst>
      <p:ext uri="{BB962C8B-B14F-4D97-AF65-F5344CB8AC3E}">
        <p14:creationId xmlns:p14="http://schemas.microsoft.com/office/powerpoint/2010/main" val="3019561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15" y="6381328"/>
            <a:ext cx="1672379" cy="291764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93549" y="333523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Resultados Obtidos</a:t>
            </a:r>
          </a:p>
        </p:txBody>
      </p:sp>
      <p:sp>
        <p:nvSpPr>
          <p:cNvPr id="13" name="Retângulo 12"/>
          <p:cNvSpPr/>
          <p:nvPr/>
        </p:nvSpPr>
        <p:spPr>
          <a:xfrm flipV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25C3C4B-9D2B-E929-B213-D8D2E814E1B4}"/>
              </a:ext>
            </a:extLst>
          </p:cNvPr>
          <p:cNvSpPr txBox="1"/>
          <p:nvPr/>
        </p:nvSpPr>
        <p:spPr>
          <a:xfrm>
            <a:off x="539552" y="1289953"/>
            <a:ext cx="684076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 expressões matemáticas que o sistema pode reconhecer são:</a:t>
            </a:r>
          </a:p>
          <a:p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Aritméticas básicas (soma, subtração, multiplicação e divisão);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Polinômios;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Funções Racionais (divisão de polinômios);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Funções Exponenciais;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Somatórios;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Integrais.</a:t>
            </a:r>
          </a:p>
          <a:p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pt-BR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Expressões matemáticas que o sistema não reconhece corretamente:</a:t>
            </a:r>
          </a:p>
          <a:p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Funções Trigonométricas;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Números com casas decimais (com vírgulas e pontos);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Raízes.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233DAC-43DB-B0EE-74C0-56DAFF6BEB3C}"/>
              </a:ext>
            </a:extLst>
          </p:cNvPr>
          <p:cNvSpPr txBox="1"/>
          <p:nvPr/>
        </p:nvSpPr>
        <p:spPr>
          <a:xfrm>
            <a:off x="539552" y="5661248"/>
            <a:ext cx="13421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Texto do autor.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102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4D08B-1A4C-39EF-9AA5-D6C9497A3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0D2AAAB-0451-E37A-A341-9E77833C6D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15" y="6381328"/>
            <a:ext cx="1672379" cy="291764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60563F6-5339-11BB-E205-164A6169CA5D}"/>
              </a:ext>
            </a:extLst>
          </p:cNvPr>
          <p:cNvSpPr txBox="1"/>
          <p:nvPr/>
        </p:nvSpPr>
        <p:spPr>
          <a:xfrm>
            <a:off x="393549" y="333523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Resultados Obtidos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1B2DBBE-2617-472C-9B0D-00B308D9B24E}"/>
              </a:ext>
            </a:extLst>
          </p:cNvPr>
          <p:cNvSpPr/>
          <p:nvPr/>
        </p:nvSpPr>
        <p:spPr>
          <a:xfrm flipV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D1B8AF4-A887-E518-E7AC-4D4CA3C87E6C}"/>
              </a:ext>
            </a:extLst>
          </p:cNvPr>
          <p:cNvSpPr txBox="1"/>
          <p:nvPr/>
        </p:nvSpPr>
        <p:spPr>
          <a:xfrm>
            <a:off x="539552" y="1859339"/>
            <a:ext cx="68407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Restrições:</a:t>
            </a: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Apenas uma expressão por imagem;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Folha de escrita sem pauta;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expressão deve ser escrita em uma única linha;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Não pode haver sobreposição de símbolos;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expressão deve ser alinhada horizontalmente.</a:t>
            </a:r>
          </a:p>
        </p:txBody>
      </p:sp>
    </p:spTree>
    <p:extLst>
      <p:ext uri="{BB962C8B-B14F-4D97-AF65-F5344CB8AC3E}">
        <p14:creationId xmlns:p14="http://schemas.microsoft.com/office/powerpoint/2010/main" val="2834482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F499B-2B67-4080-AC72-A212BC039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D299CF3E-409C-9C2A-37E8-591BA62784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15" y="6381328"/>
            <a:ext cx="1672379" cy="291764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84A2758-257A-B9CA-B98D-2B67F540F716}"/>
              </a:ext>
            </a:extLst>
          </p:cNvPr>
          <p:cNvSpPr txBox="1"/>
          <p:nvPr/>
        </p:nvSpPr>
        <p:spPr>
          <a:xfrm>
            <a:off x="393549" y="333523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Resultados Obtidos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2C9DA99-2564-1155-C5C7-514BD957F4AA}"/>
              </a:ext>
            </a:extLst>
          </p:cNvPr>
          <p:cNvSpPr/>
          <p:nvPr/>
        </p:nvSpPr>
        <p:spPr>
          <a:xfrm flipV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4D52ACC-4AEA-C8B5-42A9-7A8F154EB58D}"/>
              </a:ext>
            </a:extLst>
          </p:cNvPr>
          <p:cNvSpPr txBox="1"/>
          <p:nvPr/>
        </p:nvSpPr>
        <p:spPr>
          <a:xfrm>
            <a:off x="539552" y="1413063"/>
            <a:ext cx="705678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Problemas:</a:t>
            </a:r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Pré-processamento pode deformar demais a imagem e afetar a segmentação e o restante do processo;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Segmentação não opera direito com símbolos justapostos;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Pós-segmentação pode redimensionar demais um símbolo e afetar a sua classificação (o que exige mais treinamento da rede neural);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classificação depende totalmente da base de dados utilizada;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análise estrutural apresentou diversos problemas na identificação de sobrescritos, subscritos e </a:t>
            </a:r>
            <a:r>
              <a:rPr lang="pt-BR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subexpressões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6934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2EC97-5AE1-7AC7-0384-40478A44A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3F170ABB-B808-A48B-5446-B8A19B107B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15" y="6381328"/>
            <a:ext cx="1672379" cy="291764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B5B15D1E-8A47-796F-53D7-F966496EA977}"/>
              </a:ext>
            </a:extLst>
          </p:cNvPr>
          <p:cNvSpPr txBox="1"/>
          <p:nvPr/>
        </p:nvSpPr>
        <p:spPr>
          <a:xfrm>
            <a:off x="393549" y="333523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Conclusão do trabalho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20D58E5-AA4B-61CD-FBF9-AC6B050FDDAA}"/>
              </a:ext>
            </a:extLst>
          </p:cNvPr>
          <p:cNvSpPr/>
          <p:nvPr/>
        </p:nvSpPr>
        <p:spPr>
          <a:xfrm flipV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297F21D-46D7-0E12-8C44-57BF9DD7DC68}"/>
              </a:ext>
            </a:extLst>
          </p:cNvPr>
          <p:cNvSpPr txBox="1"/>
          <p:nvPr/>
        </p:nvSpPr>
        <p:spPr>
          <a:xfrm>
            <a:off x="827584" y="1930384"/>
            <a:ext cx="6480720" cy="2997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“Este foi um trabalho completo com a implementação de todas as etapas de um reconhecedor offline de expressões matemáticas [(algo raro na literatura pesquisada)]. O trabalho apresentou bons resultados, mesmo utilizando métodos comuns na área de processamento de imagens. Para implementar um sistema mais robusto, todas as etapas podem ser melhoradas com o uso de métodos mais avançados [...]”.</a:t>
            </a:r>
          </a:p>
        </p:txBody>
      </p:sp>
    </p:spTree>
    <p:extLst>
      <p:ext uri="{BB962C8B-B14F-4D97-AF65-F5344CB8AC3E}">
        <p14:creationId xmlns:p14="http://schemas.microsoft.com/office/powerpoint/2010/main" val="384828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3D329-2FA3-A396-3804-ED72CBEF3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54F1A4D4-BF27-A100-2005-DFC6760ECD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15" y="6381328"/>
            <a:ext cx="1672379" cy="291764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552B355-D582-B73C-1318-F6DE243FC957}"/>
              </a:ext>
            </a:extLst>
          </p:cNvPr>
          <p:cNvSpPr txBox="1"/>
          <p:nvPr/>
        </p:nvSpPr>
        <p:spPr>
          <a:xfrm>
            <a:off x="393549" y="333523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Áreas Relacionadas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AC292CE-5FF1-0A34-0798-E600CA3B5BC2}"/>
              </a:ext>
            </a:extLst>
          </p:cNvPr>
          <p:cNvSpPr/>
          <p:nvPr/>
        </p:nvSpPr>
        <p:spPr>
          <a:xfrm flipV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D7A2436-D696-1DBD-E663-E08DC94086DC}"/>
              </a:ext>
            </a:extLst>
          </p:cNvPr>
          <p:cNvSpPr txBox="1"/>
          <p:nvPr/>
        </p:nvSpPr>
        <p:spPr>
          <a:xfrm>
            <a:off x="899592" y="1376387"/>
            <a:ext cx="6480720" cy="4105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Processamento de Imagens e Visão Computacional: 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porque o sistema requer a aquisição de uma imagem digital e a aplicação de filtros matemáticos, </a:t>
            </a:r>
            <a:r>
              <a:rPr lang="pt-BR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binarização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segmentação de pixels para isolar os componentes (símbolos) do fundo do papel;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Aprendizado de Máquina e Reconhecimento de Padrões: 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porque o projeto utiliza </a:t>
            </a:r>
            <a:r>
              <a:rPr lang="pt-BR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CNNs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que são treinadas com bases de dados para extrair características e prever de forma automática a qual classe uma determinada imagem pertence.</a:t>
            </a:r>
          </a:p>
        </p:txBody>
      </p:sp>
    </p:spTree>
    <p:extLst>
      <p:ext uri="{BB962C8B-B14F-4D97-AF65-F5344CB8AC3E}">
        <p14:creationId xmlns:p14="http://schemas.microsoft.com/office/powerpoint/2010/main" val="2267785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A656E-594B-1BF6-C77F-0E25A8D45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56DB9EE-A802-EBCD-4884-5173A55448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15" y="6381328"/>
            <a:ext cx="1672379" cy="291764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70568E0-611D-6FD1-41AF-92128014AD83}"/>
              </a:ext>
            </a:extLst>
          </p:cNvPr>
          <p:cNvSpPr txBox="1"/>
          <p:nvPr/>
        </p:nvSpPr>
        <p:spPr>
          <a:xfrm>
            <a:off x="393549" y="333523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Áreas Relacionadas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4E83642-DA3D-FE85-735C-D1DE4186B356}"/>
              </a:ext>
            </a:extLst>
          </p:cNvPr>
          <p:cNvSpPr/>
          <p:nvPr/>
        </p:nvSpPr>
        <p:spPr>
          <a:xfrm flipV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91864A6-5F17-332E-5FE8-B0CA68CC3CC6}"/>
              </a:ext>
            </a:extLst>
          </p:cNvPr>
          <p:cNvSpPr txBox="1"/>
          <p:nvPr/>
        </p:nvSpPr>
        <p:spPr>
          <a:xfrm>
            <a:off x="899592" y="1745718"/>
            <a:ext cx="7200800" cy="2997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Estruturas de Dados e Algoritmos: 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porque o trabalho utiliza conceitos como grafos, árvores geradoras mínimas e algoritmos de busca e ordenação para as diversas etapas da aplicação.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Desenvolvimento Web: 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porque englobou o desenvolvimento prático de uma aplicação acessível via navegador, exigindo a integração de programas construídos em diferentes linguagens (C++, Python, Ruby) e criação de interfaces </a:t>
            </a:r>
            <a:r>
              <a:rPr lang="pt-BR" sz="16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frontend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pt-BR" sz="1600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backend</a:t>
            </a:r>
            <a:r>
              <a:rPr 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7671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755576" y="1967061"/>
            <a:ext cx="65527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FARIAS, Emanuel Henrique. </a:t>
            </a: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Geração automática de código </a:t>
            </a:r>
            <a:r>
              <a:rPr lang="pt-BR" sz="14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LaTeX</a:t>
            </a:r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partir de expressões matemáticas manuscritas</a:t>
            </a: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2016. Trabalho de Conclusão de Curso (Bacharelado em Ciência da Computação) – Universidade do Estado de Santa Catarina, Joinville, 2016.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15" y="6381328"/>
            <a:ext cx="1672379" cy="291764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393549" y="333523"/>
            <a:ext cx="6192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Referências Bibliográficas</a:t>
            </a:r>
          </a:p>
        </p:txBody>
      </p:sp>
      <p:sp>
        <p:nvSpPr>
          <p:cNvPr id="11" name="Retângulo 10"/>
          <p:cNvSpPr/>
          <p:nvPr/>
        </p:nvSpPr>
        <p:spPr>
          <a:xfrm flipV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29012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2011</TotalTime>
  <Words>1053</Words>
  <Application>Microsoft Office PowerPoint</Application>
  <PresentationFormat>Apresentação na tela (4:3)</PresentationFormat>
  <Paragraphs>113</Paragraphs>
  <Slides>16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Verdana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Gabriela Colebrusco Peres</dc:creator>
  <cp:lastModifiedBy>João Víctor Paiva Nunes Pereira</cp:lastModifiedBy>
  <cp:revision>137</cp:revision>
  <dcterms:created xsi:type="dcterms:W3CDTF">2016-08-30T17:34:40Z</dcterms:created>
  <dcterms:modified xsi:type="dcterms:W3CDTF">2026-06-06T03:41:22Z</dcterms:modified>
</cp:coreProperties>
</file>